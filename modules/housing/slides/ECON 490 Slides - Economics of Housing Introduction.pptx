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9144000" cy="6858000"/>
  <p:embeddedFontLst>
    <p:embeddedFont>
      <p:font typeface="Book Antiqua" panose="02040602050305030304" pitchFamily="18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09BE72-416E-499E-9C94-24C581460145}" v="1" dt="2025-09-02T15:20:03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72" autoAdjust="0"/>
    <p:restoredTop sz="87283" autoAdjust="0"/>
  </p:normalViewPr>
  <p:slideViewPr>
    <p:cSldViewPr snapToGrid="0">
      <p:cViewPr varScale="1">
        <p:scale>
          <a:sx n="127" d="100"/>
          <a:sy n="127" d="100"/>
        </p:scale>
        <p:origin x="1458" y="12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0B457-77C3-4112-8806-854D96FA997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A27A2-2904-4001-B1D0-B7B75D160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2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 panose="020B0604020202020204" charset="0"/>
            </a:endParaRPr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 b="0">
                <a:solidFill>
                  <a:schemeClr val="accent4"/>
                </a:solidFill>
                <a:latin typeface="Book Antiqua" panose="02040602050305030304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200">
                <a:solidFill>
                  <a:schemeClr val="accent4"/>
                </a:solidFill>
                <a:latin typeface="Lato" panose="020B0604020202020204" charset="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  <a:latin typeface="Lato" panose="020B0604020202020204" charset="0"/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accent1">
            <a:lumMod val="90000"/>
          </a:schemeClr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1">
            <a:lumMod val="90000"/>
          </a:schemeClr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Book Antiqua" panose="02040602050305030304" pitchFamily="18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  <a:defRPr>
                <a:solidFill>
                  <a:schemeClr val="accent4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○"/>
              <a:defRPr>
                <a:solidFill>
                  <a:schemeClr val="accent4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■"/>
              <a:defRPr>
                <a:solidFill>
                  <a:schemeClr val="accent4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>
                <a:solidFill>
                  <a:schemeClr val="accent4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○"/>
              <a:defRPr>
                <a:solidFill>
                  <a:schemeClr val="accent4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■"/>
              <a:defRPr>
                <a:solidFill>
                  <a:schemeClr val="accent4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>
                <a:solidFill>
                  <a:schemeClr val="accent4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○"/>
              <a:defRPr>
                <a:solidFill>
                  <a:schemeClr val="accent4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■"/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1">
            <a:lumMod val="90000"/>
          </a:schemeClr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>
                <a:latin typeface="Lato" panose="020B060402020202020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Lato" panose="020B0604020202020204" charset="0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1">
            <a:lumMod val="90000"/>
          </a:schemeClr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paperback">
    <p:bg>
      <p:bgPr>
        <a:solidFill>
          <a:schemeClr val="accent1">
            <a:lumMod val="90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roid Serif"/>
              <a:buNone/>
              <a:defRPr sz="3000" b="1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r>
              <a:rPr lang="en-US" b="0">
                <a:effectLst/>
              </a:rPr>
              <a:t> </a:t>
            </a: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  <p:sldLayoutId id="2147483658" r:id="rId5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ato" panose="020B0604020202020204" charset="0"/>
          <a:ea typeface="Lato" panose="020B0604020202020204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00" b="0" i="0" u="none" strike="noStrike" cap="none">
          <a:solidFill>
            <a:srgbClr val="000000"/>
          </a:solidFill>
          <a:latin typeface="Lato" panose="020B0604020202020204" charset="0"/>
          <a:ea typeface="Lato" panose="020B0604020202020204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mackay@fullerton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Housing Economics: An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/>
              <a:t>ECON 490</a:t>
            </a:r>
            <a:endParaRPr lang="en-US" dirty="0"/>
          </a:p>
          <a:p>
            <a:r>
              <a:rPr lang="en-US" sz="2400" b="1" dirty="0"/>
              <a:t>Taylor Mackay || Email:</a:t>
            </a:r>
            <a:r>
              <a:rPr lang="en-US" sz="2400" dirty="0"/>
              <a:t> </a:t>
            </a:r>
            <a:r>
              <a:rPr lang="en-US" sz="2400" dirty="0">
                <a:hlinkClick r:id="rId2"/>
              </a:rPr>
              <a:t>tmackay@fullerton.edu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Slides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114300" indent="0">
              <a:buNone/>
            </a:pPr>
            <a:r>
              <a:rPr lang="en-US" sz="2200" dirty="0"/>
              <a:t>In these slides, we’ll cover:</a:t>
            </a:r>
          </a:p>
          <a:p>
            <a:pPr marL="457200" lvl="0" indent="-342900">
              <a:buFont typeface="+mj-lt"/>
              <a:buAutoNum type="arabicPeriod"/>
            </a:pPr>
            <a:r>
              <a:rPr lang="en-US" sz="2200" dirty="0"/>
              <a:t>Why economists care about housing</a:t>
            </a:r>
          </a:p>
          <a:p>
            <a:pPr marL="457200" lvl="0" indent="-342900">
              <a:buFont typeface="+mj-lt"/>
              <a:buAutoNum type="arabicPeriod"/>
            </a:pPr>
            <a:r>
              <a:rPr lang="en-US" sz="2200" dirty="0"/>
              <a:t>What determines housing prices</a:t>
            </a:r>
          </a:p>
          <a:p>
            <a:pPr marL="457200" lvl="0" indent="-342900">
              <a:buFont typeface="+mj-lt"/>
              <a:buAutoNum type="arabicPeriod"/>
            </a:pPr>
            <a:r>
              <a:rPr lang="en-US" sz="2200" dirty="0"/>
              <a:t>Why housing in Orange County costs so much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 Economists Care About Housing?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en-US" sz="1800" b="1" dirty="0"/>
              <a:t>Largest purchase</a:t>
            </a:r>
            <a:r>
              <a:rPr lang="en-US" sz="1800" dirty="0"/>
              <a:t> most people will make</a:t>
            </a:r>
          </a:p>
          <a:p>
            <a:r>
              <a:rPr lang="en-US" sz="1800" dirty="0"/>
              <a:t>Major store of </a:t>
            </a:r>
            <a:r>
              <a:rPr lang="en-US" sz="1800" b="1" dirty="0"/>
              <a:t>household wealth</a:t>
            </a:r>
            <a:r>
              <a:rPr lang="en-US" sz="1800" dirty="0"/>
              <a:t> (for those who own)</a:t>
            </a:r>
          </a:p>
          <a:p>
            <a:r>
              <a:rPr lang="en-US" sz="1800" dirty="0"/>
              <a:t>Key determinant of </a:t>
            </a:r>
            <a:r>
              <a:rPr lang="en-US" sz="1800" b="1" dirty="0"/>
              <a:t>where people live and work</a:t>
            </a:r>
          </a:p>
          <a:p>
            <a:r>
              <a:rPr lang="en-US" sz="1800" dirty="0"/>
              <a:t>Heavily influenced by </a:t>
            </a:r>
            <a:r>
              <a:rPr lang="en-US" sz="1800" b="1" dirty="0"/>
              <a:t>government 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Determines Housing Prices?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114300" indent="0">
              <a:buNone/>
            </a:pPr>
            <a:r>
              <a:rPr lang="en-US" sz="1700" dirty="0"/>
              <a:t>If you ask 5 Californians why housing is expensive, you might get 5 different answers</a:t>
            </a:r>
          </a:p>
          <a:p>
            <a:pPr marL="114300" indent="0">
              <a:buNone/>
            </a:pPr>
            <a:endParaRPr lang="en-US" sz="1700" dirty="0"/>
          </a:p>
          <a:p>
            <a:r>
              <a:rPr lang="en-US" sz="1700" dirty="0"/>
              <a:t>Overall demand/CA’s large population</a:t>
            </a:r>
          </a:p>
          <a:p>
            <a:r>
              <a:rPr lang="en-US" sz="1700" dirty="0"/>
              <a:t>Amenities like weather/beaches</a:t>
            </a:r>
          </a:p>
          <a:p>
            <a:r>
              <a:rPr lang="en-US" sz="1700" dirty="0"/>
              <a:t>Macro factors (e.g., interest rates)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Basic Economics of Housing Prices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114300" indent="0">
              <a:buNone/>
            </a:pPr>
            <a:r>
              <a:rPr lang="en-US" sz="1700" b="1" dirty="0"/>
              <a:t>Demand Side:</a:t>
            </a:r>
          </a:p>
          <a:p>
            <a:r>
              <a:rPr lang="en-US" sz="1700" dirty="0"/>
              <a:t>Population growth/decline, changes to income, etc.</a:t>
            </a:r>
          </a:p>
          <a:p>
            <a:r>
              <a:rPr lang="en-US" sz="1700" dirty="0"/>
              <a:t>Interest rates (cheaper borrowing = more buyers)</a:t>
            </a:r>
          </a:p>
          <a:p>
            <a:r>
              <a:rPr lang="en-US" sz="1700" dirty="0"/>
              <a:t>Preferences (people like warm weather)</a:t>
            </a:r>
          </a:p>
          <a:p>
            <a:pPr marL="114300" indent="0">
              <a:buNone/>
            </a:pPr>
            <a:endParaRPr lang="en-US" sz="1700" dirty="0"/>
          </a:p>
          <a:p>
            <a:pPr marL="114300" indent="0">
              <a:buNone/>
            </a:pPr>
            <a:r>
              <a:rPr lang="en-US" sz="1700" b="1" dirty="0"/>
              <a:t>Supply Side:</a:t>
            </a:r>
          </a:p>
          <a:p>
            <a:r>
              <a:rPr lang="en-US" sz="1700" dirty="0"/>
              <a:t>Available land</a:t>
            </a:r>
          </a:p>
          <a:p>
            <a:r>
              <a:rPr lang="en-US" sz="1700" dirty="0"/>
              <a:t>Construction costs</a:t>
            </a:r>
          </a:p>
          <a:p>
            <a:r>
              <a:rPr lang="en-US" sz="1700" dirty="0"/>
              <a:t>Regulation (zoning, permits, environmental review)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Think About Supply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114300" indent="0">
              <a:buNone/>
            </a:pPr>
            <a:r>
              <a:rPr lang="en-US" sz="1700" b="1" dirty="0"/>
              <a:t>Question:</a:t>
            </a:r>
            <a:r>
              <a:rPr lang="en-US" sz="1700" dirty="0"/>
              <a:t> If housing demand increases in a city, what happens to prices?</a:t>
            </a:r>
          </a:p>
          <a:p>
            <a:pPr marL="114300" indent="0">
              <a:buNone/>
            </a:pPr>
            <a:endParaRPr lang="en-US" sz="1700" dirty="0"/>
          </a:p>
          <a:p>
            <a:pPr marL="114300" indent="0">
              <a:buNone/>
            </a:pPr>
            <a:r>
              <a:rPr lang="en-US" sz="1700" dirty="0"/>
              <a:t>The answer depends on the </a:t>
            </a:r>
            <a:r>
              <a:rPr lang="en-US" sz="1700" b="1" dirty="0"/>
              <a:t>elasticity</a:t>
            </a:r>
            <a:r>
              <a:rPr lang="en-US" sz="1700" dirty="0"/>
              <a:t> of housing supply</a:t>
            </a:r>
          </a:p>
          <a:p>
            <a:r>
              <a:rPr lang="en-US" sz="1700" b="1" dirty="0"/>
              <a:t>Elastic supply:</a:t>
            </a:r>
            <a:r>
              <a:rPr lang="en-US" sz="1700" dirty="0"/>
              <a:t> Builders can easily build new homes → prices stay relatively stable</a:t>
            </a:r>
          </a:p>
          <a:p>
            <a:r>
              <a:rPr lang="en-US" sz="1700" b="1" dirty="0"/>
              <a:t>Inelastic supply:</a:t>
            </a:r>
            <a:r>
              <a:rPr lang="en-US" sz="1700" dirty="0"/>
              <a:t> Hard to build new homes → prices rise</a:t>
            </a:r>
          </a:p>
          <a:p>
            <a:pPr marL="114300" indent="0">
              <a:buNone/>
            </a:pPr>
            <a:endParaRPr lang="en-US" sz="1700" dirty="0"/>
          </a:p>
          <a:p>
            <a:pPr marL="114300" indent="0">
              <a:buNone/>
            </a:pPr>
            <a:r>
              <a:rPr lang="en-US" sz="1700" dirty="0"/>
              <a:t>California has relatively inelastic housing supply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Types of Housing Markets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114300" indent="0">
              <a:buNone/>
            </a:pPr>
            <a:r>
              <a:rPr lang="en-US" sz="1600" dirty="0"/>
              <a:t>From the journal article we’ll read, define three archetypes:</a:t>
            </a:r>
          </a:p>
          <a:p>
            <a:pPr marL="114300" indent="0">
              <a:buNone/>
            </a:pPr>
            <a:endParaRPr lang="en-US" sz="1600" dirty="0"/>
          </a:p>
          <a:p>
            <a:pPr marL="457200" lvl="0" indent="-342900">
              <a:buFont typeface="+mj-lt"/>
              <a:buAutoNum type="arabicPeriod"/>
            </a:pPr>
            <a:r>
              <a:rPr lang="en-US" sz="1600" b="1" dirty="0"/>
              <a:t>Declining cities</a:t>
            </a:r>
            <a:r>
              <a:rPr lang="en-US" sz="1600" dirty="0"/>
              <a:t> </a:t>
            </a:r>
            <a:r>
              <a:rPr lang="en-US" sz="1600" i="1" dirty="0"/>
              <a:t>(e.g., Detroit)</a:t>
            </a:r>
          </a:p>
          <a:p>
            <a:pPr lvl="1"/>
            <a:r>
              <a:rPr lang="en-US" sz="1600" dirty="0"/>
              <a:t>Lots of old housing stock, falling demand</a:t>
            </a:r>
          </a:p>
          <a:p>
            <a:pPr lvl="1"/>
            <a:r>
              <a:rPr lang="en-US" sz="1600" dirty="0"/>
              <a:t>Prices often below construction costs</a:t>
            </a:r>
          </a:p>
          <a:p>
            <a:pPr marL="457200" lvl="0" indent="-342900">
              <a:buFont typeface="+mj-lt"/>
              <a:buAutoNum type="arabicPeriod"/>
            </a:pPr>
            <a:r>
              <a:rPr lang="en-US" sz="1600" b="1" dirty="0"/>
              <a:t>Elastic cities</a:t>
            </a:r>
            <a:r>
              <a:rPr lang="en-US" sz="1600" dirty="0"/>
              <a:t> </a:t>
            </a:r>
            <a:r>
              <a:rPr lang="en-US" sz="1600" i="1" dirty="0"/>
              <a:t>(e.g., Houston, Atlanta)</a:t>
            </a:r>
          </a:p>
          <a:p>
            <a:pPr lvl="1"/>
            <a:r>
              <a:rPr lang="en-US" sz="1600" dirty="0"/>
              <a:t>Plenty of land, few building restrictions</a:t>
            </a:r>
          </a:p>
          <a:p>
            <a:pPr lvl="1"/>
            <a:r>
              <a:rPr lang="en-US" sz="1600" dirty="0"/>
              <a:t>Prices stay close to construction costs</a:t>
            </a:r>
          </a:p>
          <a:p>
            <a:pPr marL="457200" lvl="0" indent="-342900">
              <a:buFont typeface="+mj-lt"/>
              <a:buAutoNum type="arabicPeriod"/>
            </a:pPr>
            <a:r>
              <a:rPr lang="en-US" sz="1600" b="1" dirty="0"/>
              <a:t>Inelastic/regulated cities</a:t>
            </a:r>
            <a:r>
              <a:rPr lang="en-US" sz="1600" dirty="0"/>
              <a:t> </a:t>
            </a:r>
            <a:r>
              <a:rPr lang="en-US" sz="1600" i="1" dirty="0"/>
              <a:t>(e.g., San Francisco, LA, Orange County)</a:t>
            </a:r>
          </a:p>
          <a:p>
            <a:pPr lvl="1"/>
            <a:r>
              <a:rPr lang="en-US" sz="1600" dirty="0"/>
              <a:t>High demand + restricted supply = high prices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Orange County as an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114300" indent="0">
              <a:buNone/>
            </a:pPr>
            <a:r>
              <a:rPr lang="en-US" sz="1700" b="1" dirty="0"/>
              <a:t>Median home price in Orange County (2026):</a:t>
            </a:r>
            <a:r>
              <a:rPr lang="en-US" sz="1700" dirty="0"/>
              <a:t> roughly $1.25 million</a:t>
            </a:r>
          </a:p>
          <a:p>
            <a:pPr marL="114300" indent="0">
              <a:buNone/>
            </a:pPr>
            <a:endParaRPr lang="en-US" sz="1700" dirty="0"/>
          </a:p>
          <a:p>
            <a:pPr marL="114300" indent="0">
              <a:buNone/>
            </a:pPr>
            <a:r>
              <a:rPr lang="en-US" sz="1700" b="1" dirty="0"/>
              <a:t>Physical cost to build a house:</a:t>
            </a:r>
            <a:r>
              <a:rPr lang="en-US" sz="1700" dirty="0"/>
              <a:t> roughly $200-300 per square foot for construction</a:t>
            </a:r>
          </a:p>
          <a:p>
            <a:r>
              <a:rPr lang="en-US" sz="1700" dirty="0"/>
              <a:t>For a 2,000 sq ft home, that’s maybe $400-600K in construction costs</a:t>
            </a:r>
          </a:p>
          <a:p>
            <a:pPr marL="114300" indent="0">
              <a:buNone/>
            </a:pPr>
            <a:endParaRPr lang="en-US" sz="1700" dirty="0"/>
          </a:p>
          <a:p>
            <a:pPr marL="114300" indent="0">
              <a:buNone/>
            </a:pPr>
            <a:r>
              <a:rPr lang="en-US" sz="1700" dirty="0"/>
              <a:t>So where does the other $650K+ come from?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Price Gap as Regulatory Tax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114300" indent="0">
              <a:buNone/>
            </a:pPr>
            <a:r>
              <a:rPr lang="en-US" sz="1600" dirty="0"/>
              <a:t>$650k+ price gap reflects several factors</a:t>
            </a:r>
          </a:p>
          <a:p>
            <a:pPr marL="114300" indent="0">
              <a:buNone/>
            </a:pPr>
            <a:endParaRPr lang="en-US" sz="1600" dirty="0"/>
          </a:p>
          <a:p>
            <a:r>
              <a:rPr lang="en-US" sz="1600" b="1" dirty="0"/>
              <a:t>Zoning restrictions</a:t>
            </a:r>
            <a:r>
              <a:rPr lang="en-US" sz="1600" dirty="0"/>
              <a:t>: Limits on what can be built where</a:t>
            </a:r>
          </a:p>
          <a:p>
            <a:r>
              <a:rPr lang="en-US" sz="1600" b="1" dirty="0"/>
              <a:t>Environmental review</a:t>
            </a:r>
            <a:r>
              <a:rPr lang="en-US" sz="1600" dirty="0"/>
              <a:t>: California’s CEQA adds time and cost</a:t>
            </a:r>
          </a:p>
          <a:p>
            <a:r>
              <a:rPr lang="en-US" sz="1600" b="1" dirty="0"/>
              <a:t>Local opposition</a:t>
            </a:r>
            <a:r>
              <a:rPr lang="en-US" sz="1600" dirty="0"/>
              <a:t>: Existing homeowners often fight new development</a:t>
            </a:r>
          </a:p>
          <a:p>
            <a:r>
              <a:rPr lang="en-US" sz="1600" b="1" dirty="0"/>
              <a:t>Land scarcity</a:t>
            </a:r>
            <a:r>
              <a:rPr lang="en-US" sz="1600" dirty="0"/>
              <a:t>: Ultimately, available land is bounded in OC… but density is a policy choice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In economic terms, we’d say there’s a large </a:t>
            </a:r>
            <a:r>
              <a:rPr lang="en-US" sz="1600" b="1" dirty="0"/>
              <a:t>regulatory tax</a:t>
            </a:r>
            <a:r>
              <a:rPr lang="en-US" sz="1600" dirty="0"/>
              <a:t> on housing in 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 in My Backyard (NIMBY)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114300" indent="0">
              <a:buNone/>
            </a:pPr>
            <a:r>
              <a:rPr lang="en-US" sz="1700" dirty="0"/>
              <a:t>If high housing costs are bad, why don’t we just build more?</a:t>
            </a:r>
          </a:p>
          <a:p>
            <a:pPr marL="114300" indent="0">
              <a:buNone/>
            </a:pPr>
            <a:endParaRPr lang="en-US" sz="1700" dirty="0"/>
          </a:p>
          <a:p>
            <a:pPr marL="114300" indent="0">
              <a:buNone/>
            </a:pPr>
            <a:r>
              <a:rPr lang="en-US" sz="1700" dirty="0"/>
              <a:t>Existing homeowners benefit from restricted supply</a:t>
            </a:r>
          </a:p>
          <a:p>
            <a:r>
              <a:rPr lang="en-US" sz="1700" dirty="0"/>
              <a:t>Your home value goes up when fewer homes get built</a:t>
            </a:r>
          </a:p>
          <a:p>
            <a:pPr marL="114300" indent="0">
              <a:buNone/>
            </a:pPr>
            <a:endParaRPr lang="en-US" sz="1700" dirty="0"/>
          </a:p>
          <a:p>
            <a:pPr marL="114300" indent="0">
              <a:buNone/>
            </a:pPr>
            <a:r>
              <a:rPr lang="en-US" sz="1700" dirty="0"/>
              <a:t>New development brings traffic, noise, “neighborhood character” changes</a:t>
            </a:r>
          </a:p>
          <a:p>
            <a:r>
              <a:rPr lang="en-US" sz="1700" dirty="0"/>
              <a:t>Opponents of new construction are often called NIMBYs</a:t>
            </a:r>
          </a:p>
          <a:p>
            <a:r>
              <a:rPr lang="en-US" sz="1700" dirty="0"/>
              <a:t>Homeowners vote; potential future residents don’t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Week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114300" indent="0">
              <a:buNone/>
            </a:pPr>
            <a:r>
              <a:rPr lang="en-US" sz="1500" dirty="0"/>
              <a:t>Assigned journal article covers:</a:t>
            </a:r>
          </a:p>
          <a:p>
            <a:r>
              <a:rPr lang="en-US" sz="1500" dirty="0"/>
              <a:t>Framework for measuring housing regulation</a:t>
            </a:r>
          </a:p>
          <a:p>
            <a:r>
              <a:rPr lang="en-US" sz="1500" dirty="0"/>
              <a:t>Evidence on which cities are most restricted</a:t>
            </a:r>
          </a:p>
          <a:p>
            <a:r>
              <a:rPr lang="en-US" sz="1500" dirty="0"/>
              <a:t>Estimates of the economic costs of housing restrictions</a:t>
            </a:r>
          </a:p>
          <a:p>
            <a:pPr marL="114300" indent="0">
              <a:buNone/>
            </a:pPr>
            <a:endParaRPr lang="en-US" sz="1500" dirty="0"/>
          </a:p>
          <a:p>
            <a:pPr marL="114300" indent="0">
              <a:buNone/>
            </a:pPr>
            <a:r>
              <a:rPr lang="en-US" sz="1500" dirty="0"/>
              <a:t>Read the Glaeser and Gyourko article, specifically:</a:t>
            </a:r>
          </a:p>
          <a:p>
            <a:r>
              <a:rPr lang="en-US" sz="1500" dirty="0"/>
              <a:t>Introduction section (first 3 pages) laying out general questions/analysis</a:t>
            </a:r>
          </a:p>
          <a:p>
            <a:r>
              <a:rPr lang="en-US" sz="1500" dirty="0"/>
              <a:t>Two important sections: </a:t>
            </a:r>
          </a:p>
          <a:p>
            <a:pPr lvl="1"/>
            <a:r>
              <a:rPr lang="en-US" sz="1500" dirty="0"/>
              <a:t>“Variations in Regulations on Land Use and Building” </a:t>
            </a:r>
          </a:p>
          <a:p>
            <a:pPr lvl="1"/>
            <a:r>
              <a:rPr lang="en-US" sz="1500" dirty="0"/>
              <a:t>“A Closer Look at Three Types of Markets”</a:t>
            </a:r>
          </a:p>
          <a:p>
            <a:r>
              <a:rPr lang="en-US" sz="1500" dirty="0"/>
              <a:t>You should be able to describe how demand shifts affect prices in each market 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ul-gp-beamer-theme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ul-gp-beamer-theme" id="{73513C1D-6B2E-4D59-8485-B00BA26FF5DB}" vid="{9B20C62F-3582-4E0C-AE2A-CBC1C2FC51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c0b871-335f-4b5c-9ed0-a4a23565a79b}" enabled="0" method="" siteId="{82c0b871-335f-4b5c-9ed0-a4a23565a79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paul-gp-beamer-theme</Template>
  <TotalTime>7</TotalTime>
  <Words>605</Words>
  <Application>Microsoft Office PowerPoint</Application>
  <PresentationFormat>On-screen Show (16:9)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 Antiqua</vt:lpstr>
      <vt:lpstr>Lato</vt:lpstr>
      <vt:lpstr>Droid Serif</vt:lpstr>
      <vt:lpstr>Calibri</vt:lpstr>
      <vt:lpstr>paul-gp-beamer-theme</vt:lpstr>
      <vt:lpstr>Housing Economics: An Introduction</vt:lpstr>
      <vt:lpstr>Slides Overview</vt:lpstr>
      <vt:lpstr>Why Do Economists Care About Housing?</vt:lpstr>
      <vt:lpstr>What Determines Housing Prices?</vt:lpstr>
      <vt:lpstr>The Basic Economics of Housing Prices</vt:lpstr>
      <vt:lpstr>Let’s Think About Supply</vt:lpstr>
      <vt:lpstr>Three Types of Housing Markets</vt:lpstr>
      <vt:lpstr>Orange County as an Example</vt:lpstr>
      <vt:lpstr>Price Gap as Regulatory Tax</vt:lpstr>
      <vt:lpstr>Not in My Backyard (NIMBY)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 490: Economics of Housing Introduction</dc:title>
  <dc:creator>Taylor Mackay</dc:creator>
  <cp:lastModifiedBy>Mackay, Taylor</cp:lastModifiedBy>
  <cp:revision>9</cp:revision>
  <cp:lastPrinted>2026-09-01T21:30:39Z</cp:lastPrinted>
  <dcterms:created xsi:type="dcterms:W3CDTF">2023-01-26T20:08:27Z</dcterms:created>
  <dcterms:modified xsi:type="dcterms:W3CDTF">2026-09-09T23:30:42Z</dcterms:modified>
</cp:coreProperties>
</file>